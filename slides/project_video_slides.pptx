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9877"/>
            <a:ext cx="158813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ts val="575"/>
              </a:lnSpc>
            </a:pPr>
            <a:r>
              <a:rPr dirty="0" spc="-75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Ruiquan</a:t>
            </a:r>
            <a:r>
              <a:rPr dirty="0" spc="30"/>
              <a:t> </a:t>
            </a:r>
            <a:r>
              <a:rPr dirty="0"/>
              <a:t>Qiao,</a:t>
            </a:r>
            <a:r>
              <a:rPr dirty="0" spc="30"/>
              <a:t> </a:t>
            </a:r>
            <a:r>
              <a:rPr dirty="0" spc="-10"/>
              <a:t>Tiancheng</a:t>
            </a:r>
            <a:r>
              <a:rPr dirty="0" spc="30"/>
              <a:t> </a:t>
            </a:r>
            <a:r>
              <a:rPr dirty="0"/>
              <a:t>Xia,</a:t>
            </a:r>
            <a:r>
              <a:rPr dirty="0" spc="30"/>
              <a:t> </a:t>
            </a:r>
            <a:r>
              <a:rPr dirty="0" spc="-25"/>
              <a:t>Guangde</a:t>
            </a:r>
            <a:r>
              <a:rPr dirty="0" spc="30"/>
              <a:t> </a:t>
            </a:r>
            <a:r>
              <a:rPr dirty="0"/>
              <a:t>Shi</a:t>
            </a:r>
            <a:r>
              <a:rPr dirty="0" spc="85"/>
              <a:t> </a:t>
            </a:r>
            <a:r>
              <a:rPr dirty="0" spc="-10"/>
              <a:t>(COMP624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ts val="575"/>
              </a:lnSpc>
            </a:pPr>
            <a:r>
              <a:rPr dirty="0" spc="-75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Ruiquan</a:t>
            </a:r>
            <a:r>
              <a:rPr dirty="0" spc="30"/>
              <a:t> </a:t>
            </a:r>
            <a:r>
              <a:rPr dirty="0"/>
              <a:t>Qiao,</a:t>
            </a:r>
            <a:r>
              <a:rPr dirty="0" spc="30"/>
              <a:t> </a:t>
            </a:r>
            <a:r>
              <a:rPr dirty="0" spc="-10"/>
              <a:t>Tiancheng</a:t>
            </a:r>
            <a:r>
              <a:rPr dirty="0" spc="30"/>
              <a:t> </a:t>
            </a:r>
            <a:r>
              <a:rPr dirty="0"/>
              <a:t>Xia,</a:t>
            </a:r>
            <a:r>
              <a:rPr dirty="0" spc="30"/>
              <a:t> </a:t>
            </a:r>
            <a:r>
              <a:rPr dirty="0" spc="-25"/>
              <a:t>Guangde</a:t>
            </a:r>
            <a:r>
              <a:rPr dirty="0" spc="30"/>
              <a:t> </a:t>
            </a:r>
            <a:r>
              <a:rPr dirty="0"/>
              <a:t>Shi</a:t>
            </a:r>
            <a:r>
              <a:rPr dirty="0" spc="85"/>
              <a:t> </a:t>
            </a:r>
            <a:r>
              <a:rPr dirty="0" spc="-10"/>
              <a:t>(COMP624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ts val="575"/>
              </a:lnSpc>
            </a:pPr>
            <a:r>
              <a:rPr dirty="0" spc="-75"/>
              <a:t>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Ruiquan</a:t>
            </a:r>
            <a:r>
              <a:rPr dirty="0" spc="30"/>
              <a:t> </a:t>
            </a:r>
            <a:r>
              <a:rPr dirty="0"/>
              <a:t>Qiao,</a:t>
            </a:r>
            <a:r>
              <a:rPr dirty="0" spc="30"/>
              <a:t> </a:t>
            </a:r>
            <a:r>
              <a:rPr dirty="0" spc="-10"/>
              <a:t>Tiancheng</a:t>
            </a:r>
            <a:r>
              <a:rPr dirty="0" spc="30"/>
              <a:t> </a:t>
            </a:r>
            <a:r>
              <a:rPr dirty="0"/>
              <a:t>Xia,</a:t>
            </a:r>
            <a:r>
              <a:rPr dirty="0" spc="30"/>
              <a:t> </a:t>
            </a:r>
            <a:r>
              <a:rPr dirty="0" spc="-25"/>
              <a:t>Guangde</a:t>
            </a:r>
            <a:r>
              <a:rPr dirty="0" spc="30"/>
              <a:t> </a:t>
            </a:r>
            <a:r>
              <a:rPr dirty="0"/>
              <a:t>Shi</a:t>
            </a:r>
            <a:r>
              <a:rPr dirty="0" spc="85"/>
              <a:t> </a:t>
            </a:r>
            <a:r>
              <a:rPr dirty="0" spc="-10"/>
              <a:t>(COMP624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ts val="575"/>
              </a:lnSpc>
            </a:pPr>
            <a:r>
              <a:rPr dirty="0" spc="-75"/>
              <a:t>2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Ruiquan</a:t>
            </a:r>
            <a:r>
              <a:rPr dirty="0" spc="30"/>
              <a:t> </a:t>
            </a:r>
            <a:r>
              <a:rPr dirty="0"/>
              <a:t>Qiao,</a:t>
            </a:r>
            <a:r>
              <a:rPr dirty="0" spc="30"/>
              <a:t> </a:t>
            </a:r>
            <a:r>
              <a:rPr dirty="0" spc="-10"/>
              <a:t>Tiancheng</a:t>
            </a:r>
            <a:r>
              <a:rPr dirty="0" spc="30"/>
              <a:t> </a:t>
            </a:r>
            <a:r>
              <a:rPr dirty="0"/>
              <a:t>Xia,</a:t>
            </a:r>
            <a:r>
              <a:rPr dirty="0" spc="30"/>
              <a:t> </a:t>
            </a:r>
            <a:r>
              <a:rPr dirty="0" spc="-25"/>
              <a:t>Guangde</a:t>
            </a:r>
            <a:r>
              <a:rPr dirty="0" spc="30"/>
              <a:t> </a:t>
            </a:r>
            <a:r>
              <a:rPr dirty="0"/>
              <a:t>Shi</a:t>
            </a:r>
            <a:r>
              <a:rPr dirty="0" spc="85"/>
              <a:t> </a:t>
            </a:r>
            <a:r>
              <a:rPr dirty="0" spc="-10"/>
              <a:t>(COMP624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743" y="643254"/>
            <a:ext cx="5584825" cy="82550"/>
          </a:xfrm>
          <a:custGeom>
            <a:avLst/>
            <a:gdLst/>
            <a:ahLst/>
            <a:cxnLst/>
            <a:rect l="l" t="t" r="r" b="b"/>
            <a:pathLst>
              <a:path w="5584825" h="82550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5584580" y="82384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8544" y="706512"/>
            <a:ext cx="5584825" cy="674370"/>
          </a:xfrm>
          <a:custGeom>
            <a:avLst/>
            <a:gdLst/>
            <a:ahLst/>
            <a:cxnLst/>
            <a:rect l="l" t="t" r="r" b="b"/>
            <a:pathLst>
              <a:path w="5584825" h="674369">
                <a:moveTo>
                  <a:pt x="5584580" y="0"/>
                </a:moveTo>
                <a:lnTo>
                  <a:pt x="0" y="0"/>
                </a:lnTo>
                <a:lnTo>
                  <a:pt x="0" y="674283"/>
                </a:lnTo>
                <a:lnTo>
                  <a:pt x="5584580" y="674283"/>
                </a:lnTo>
                <a:lnTo>
                  <a:pt x="55845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7743" y="687675"/>
            <a:ext cx="5584825" cy="642620"/>
          </a:xfrm>
          <a:custGeom>
            <a:avLst/>
            <a:gdLst/>
            <a:ahLst/>
            <a:cxnLst/>
            <a:rect l="l" t="t" r="r" b="b"/>
            <a:pathLst>
              <a:path w="5584825" h="642619">
                <a:moveTo>
                  <a:pt x="5584580" y="0"/>
                </a:moveTo>
                <a:lnTo>
                  <a:pt x="0" y="0"/>
                </a:lnTo>
                <a:lnTo>
                  <a:pt x="0" y="591519"/>
                </a:lnTo>
                <a:lnTo>
                  <a:pt x="4008" y="611243"/>
                </a:lnTo>
                <a:lnTo>
                  <a:pt x="14922" y="627396"/>
                </a:lnTo>
                <a:lnTo>
                  <a:pt x="31075" y="638310"/>
                </a:lnTo>
                <a:lnTo>
                  <a:pt x="50800" y="642319"/>
                </a:lnTo>
                <a:lnTo>
                  <a:pt x="5533779" y="642319"/>
                </a:lnTo>
                <a:lnTo>
                  <a:pt x="5553504" y="638310"/>
                </a:lnTo>
                <a:lnTo>
                  <a:pt x="5569657" y="627396"/>
                </a:lnTo>
                <a:lnTo>
                  <a:pt x="5580571" y="611243"/>
                </a:lnTo>
                <a:lnTo>
                  <a:pt x="5584580" y="591519"/>
                </a:lnTo>
                <a:lnTo>
                  <a:pt x="5584580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ts val="575"/>
              </a:lnSpc>
            </a:pPr>
            <a:r>
              <a:rPr dirty="0" spc="-75"/>
              <a:t>2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Ruiquan</a:t>
            </a:r>
            <a:r>
              <a:rPr dirty="0" spc="30"/>
              <a:t> </a:t>
            </a:r>
            <a:r>
              <a:rPr dirty="0"/>
              <a:t>Qiao,</a:t>
            </a:r>
            <a:r>
              <a:rPr dirty="0" spc="30"/>
              <a:t> </a:t>
            </a:r>
            <a:r>
              <a:rPr dirty="0" spc="-10"/>
              <a:t>Tiancheng</a:t>
            </a:r>
            <a:r>
              <a:rPr dirty="0" spc="30"/>
              <a:t> </a:t>
            </a:r>
            <a:r>
              <a:rPr dirty="0"/>
              <a:t>Xia,</a:t>
            </a:r>
            <a:r>
              <a:rPr dirty="0" spc="30"/>
              <a:t> </a:t>
            </a:r>
            <a:r>
              <a:rPr dirty="0" spc="-25"/>
              <a:t>Guangde</a:t>
            </a:r>
            <a:r>
              <a:rPr dirty="0" spc="30"/>
              <a:t> </a:t>
            </a:r>
            <a:r>
              <a:rPr dirty="0"/>
              <a:t>Shi</a:t>
            </a:r>
            <a:r>
              <a:rPr dirty="0" spc="85"/>
              <a:t> </a:t>
            </a:r>
            <a:r>
              <a:rPr dirty="0" spc="-10"/>
              <a:t>(COMP624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7"/>
            <a:ext cx="266509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1046909"/>
            <a:ext cx="5055870" cy="1038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5868" y="3148483"/>
            <a:ext cx="40639" cy="76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ts val="575"/>
              </a:lnSpc>
            </a:pPr>
            <a:r>
              <a:rPr dirty="0" spc="-75"/>
              <a:t>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-12700" y="3135783"/>
            <a:ext cx="192151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Ruiquan</a:t>
            </a:r>
            <a:r>
              <a:rPr dirty="0" spc="30"/>
              <a:t> </a:t>
            </a:r>
            <a:r>
              <a:rPr dirty="0"/>
              <a:t>Qiao,</a:t>
            </a:r>
            <a:r>
              <a:rPr dirty="0" spc="30"/>
              <a:t> </a:t>
            </a:r>
            <a:r>
              <a:rPr dirty="0" spc="-10"/>
              <a:t>Tiancheng</a:t>
            </a:r>
            <a:r>
              <a:rPr dirty="0" spc="30"/>
              <a:t> </a:t>
            </a:r>
            <a:r>
              <a:rPr dirty="0"/>
              <a:t>Xia,</a:t>
            </a:r>
            <a:r>
              <a:rPr dirty="0" spc="30"/>
              <a:t> </a:t>
            </a:r>
            <a:r>
              <a:rPr dirty="0" spc="-25"/>
              <a:t>Guangde</a:t>
            </a:r>
            <a:r>
              <a:rPr dirty="0" spc="30"/>
              <a:t> </a:t>
            </a:r>
            <a:r>
              <a:rPr dirty="0"/>
              <a:t>Shi</a:t>
            </a:r>
            <a:r>
              <a:rPr dirty="0" spc="85"/>
              <a:t> </a:t>
            </a:r>
            <a:r>
              <a:rPr dirty="0" spc="-10"/>
              <a:t>(COMP624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06671" y="3135783"/>
            <a:ext cx="19875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#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8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8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" Target="slide8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slide" Target="slide8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" Target="slide8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slide" Target="slide8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" Target="slide8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slide" Target="slide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8544" y="706512"/>
            <a:ext cx="5584825" cy="67437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 marR="95250">
              <a:lnSpc>
                <a:spcPct val="100000"/>
              </a:lnSpc>
              <a:spcBef>
                <a:spcPts val="44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ImageNet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EuroSAT</a:t>
            </a:r>
            <a:endParaRPr sz="1400">
              <a:latin typeface="Tahoma"/>
              <a:cs typeface="Tahoma"/>
            </a:endParaRPr>
          </a:p>
          <a:p>
            <a:pPr algn="ctr" marR="93980">
              <a:lnSpc>
                <a:spcPct val="100000"/>
              </a:lnSpc>
              <a:spcBef>
                <a:spcPts val="325"/>
              </a:spcBef>
            </a:pPr>
            <a:r>
              <a:rPr dirty="0" sz="1100" spc="-45">
                <a:solidFill>
                  <a:srgbClr val="FFFFFF"/>
                </a:solidFill>
                <a:latin typeface="Arial MT"/>
                <a:cs typeface="Arial MT"/>
              </a:rPr>
              <a:t>Transfer</a:t>
            </a:r>
            <a:r>
              <a:rPr dirty="0" sz="11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Arial MT"/>
                <a:cs typeface="Arial MT"/>
              </a:rPr>
              <a:t>Learning,</a:t>
            </a:r>
            <a:r>
              <a:rPr dirty="0" sz="11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dirty="0" sz="11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Arial MT"/>
                <a:cs typeface="Arial MT"/>
              </a:rPr>
              <a:t>Transfer</a:t>
            </a:r>
            <a:r>
              <a:rPr dirty="0" sz="11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55">
                <a:solidFill>
                  <a:srgbClr val="FFFFFF"/>
                </a:solidFill>
                <a:latin typeface="Arial MT"/>
                <a:cs typeface="Arial MT"/>
              </a:rPr>
              <a:t>Helps,</a:t>
            </a:r>
            <a:r>
              <a:rPr dirty="0" sz="11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1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Catastrophic</a:t>
            </a:r>
            <a:r>
              <a:rPr dirty="0" sz="11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Forgetting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00416" y="1540076"/>
            <a:ext cx="2758440" cy="835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  <a:tabLst>
                <a:tab pos="976630" algn="l"/>
                <a:tab pos="2000250" algn="l"/>
              </a:tabLst>
            </a:pPr>
            <a:r>
              <a:rPr dirty="0" sz="1100" spc="-50">
                <a:latin typeface="Arial MT"/>
                <a:cs typeface="Arial MT"/>
              </a:rPr>
              <a:t>Ruiquan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Qiao</a:t>
            </a:r>
            <a:r>
              <a:rPr dirty="0" sz="1100">
                <a:latin typeface="Arial MT"/>
                <a:cs typeface="Arial MT"/>
              </a:rPr>
              <a:t>	</a:t>
            </a:r>
            <a:r>
              <a:rPr dirty="0" sz="1100" spc="-45">
                <a:latin typeface="Arial MT"/>
                <a:cs typeface="Arial MT"/>
              </a:rPr>
              <a:t>Tiancheng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Xia</a:t>
            </a:r>
            <a:r>
              <a:rPr dirty="0" sz="1100">
                <a:latin typeface="Arial MT"/>
                <a:cs typeface="Arial MT"/>
              </a:rPr>
              <a:t>	</a:t>
            </a:r>
            <a:r>
              <a:rPr dirty="0" sz="1100" spc="-85">
                <a:latin typeface="Arial MT"/>
                <a:cs typeface="Arial MT"/>
              </a:rPr>
              <a:t>Guangde</a:t>
            </a:r>
            <a:r>
              <a:rPr dirty="0" sz="1100" spc="6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Shi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100">
              <a:latin typeface="Arial MT"/>
              <a:cs typeface="Arial MT"/>
            </a:endParaRPr>
          </a:p>
          <a:p>
            <a:pPr algn="ctr" marL="635">
              <a:lnSpc>
                <a:spcPct val="100000"/>
              </a:lnSpc>
            </a:pPr>
            <a:r>
              <a:rPr dirty="0" sz="800">
                <a:latin typeface="Arial MT"/>
                <a:cs typeface="Arial MT"/>
              </a:rPr>
              <a:t>COMP6242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Deep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Learning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Group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Project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800">
              <a:latin typeface="Arial MT"/>
              <a:cs typeface="Arial MT"/>
            </a:endParaRPr>
          </a:p>
          <a:p>
            <a:pPr algn="ctr" marL="1270">
              <a:lnSpc>
                <a:spcPct val="100000"/>
              </a:lnSpc>
            </a:pPr>
            <a:r>
              <a:rPr dirty="0" sz="1100" spc="-70">
                <a:latin typeface="Arial MT"/>
                <a:cs typeface="Arial MT"/>
              </a:rPr>
              <a:t>Semester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1,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2026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pc="-75"/>
              <a:t>2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Ruiquan</a:t>
            </a:r>
            <a:r>
              <a:rPr dirty="0" spc="30"/>
              <a:t> </a:t>
            </a:r>
            <a:r>
              <a:rPr dirty="0"/>
              <a:t>Qiao,</a:t>
            </a:r>
            <a:r>
              <a:rPr dirty="0" spc="30"/>
              <a:t> </a:t>
            </a:r>
            <a:r>
              <a:rPr dirty="0" spc="-10"/>
              <a:t>Tiancheng</a:t>
            </a:r>
            <a:r>
              <a:rPr dirty="0" spc="30"/>
              <a:t> </a:t>
            </a:r>
            <a:r>
              <a:rPr dirty="0"/>
              <a:t>Xia,</a:t>
            </a:r>
            <a:r>
              <a:rPr dirty="0" spc="30"/>
              <a:t> </a:t>
            </a:r>
            <a:r>
              <a:rPr dirty="0" spc="-25"/>
              <a:t>Guangde</a:t>
            </a:r>
            <a:r>
              <a:rPr dirty="0" spc="30"/>
              <a:t> </a:t>
            </a:r>
            <a:r>
              <a:rPr dirty="0"/>
              <a:t>Shi</a:t>
            </a:r>
            <a:r>
              <a:rPr dirty="0" spc="85"/>
              <a:t> </a:t>
            </a:r>
            <a:r>
              <a:rPr dirty="0" spc="-10"/>
              <a:t>(COMP624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390203" y="3135783"/>
            <a:ext cx="9798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From</a:t>
            </a:r>
            <a:r>
              <a:rPr dirty="0" sz="600" spc="5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ImageNet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to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EuroSAT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422368" y="3135783"/>
            <a:ext cx="6076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Semester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1,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</a:rPr>
              <a:t>2026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934719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Video</a:t>
            </a:r>
            <a:r>
              <a:rPr dirty="0" sz="14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Focus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26984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1199754"/>
            <a:ext cx="4083050" cy="655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94945">
              <a:lnSpc>
                <a:spcPct val="125299"/>
              </a:lnSpc>
              <a:spcBef>
                <a:spcPts val="100"/>
              </a:spcBef>
            </a:pPr>
            <a:r>
              <a:rPr dirty="0" sz="1100" spc="-40">
                <a:latin typeface="Arial MT"/>
                <a:cs typeface="Arial MT"/>
              </a:rPr>
              <a:t>5-</a:t>
            </a:r>
            <a:r>
              <a:rPr dirty="0" sz="1100" spc="-20">
                <a:latin typeface="Arial MT"/>
                <a:cs typeface="Arial MT"/>
              </a:rPr>
              <a:t>minute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project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video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contributions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group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members. </a:t>
            </a:r>
            <a:r>
              <a:rPr dirty="0" sz="1100" spc="-35">
                <a:latin typeface="Arial MT"/>
                <a:cs typeface="Arial MT"/>
              </a:rPr>
              <a:t>Explain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problem,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method,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findings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clearly.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 spc="-100">
                <a:latin typeface="Arial MT"/>
                <a:cs typeface="Arial MT"/>
              </a:rPr>
              <a:t>Use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visuals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support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one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coherent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narrative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rather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than </a:t>
            </a:r>
            <a:r>
              <a:rPr dirty="0" sz="1100" spc="-55">
                <a:latin typeface="Arial MT"/>
                <a:cs typeface="Arial MT"/>
              </a:rPr>
              <a:t>every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detail.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37017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47050"/>
            <a:ext cx="65265" cy="65265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8" name="object 8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pc="-75"/>
              <a:t>2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Ruiquan</a:t>
            </a:r>
            <a:r>
              <a:rPr dirty="0" spc="30"/>
              <a:t> </a:t>
            </a:r>
            <a:r>
              <a:rPr dirty="0"/>
              <a:t>Qiao,</a:t>
            </a:r>
            <a:r>
              <a:rPr dirty="0" spc="30"/>
              <a:t> </a:t>
            </a:r>
            <a:r>
              <a:rPr dirty="0" spc="-10"/>
              <a:t>Tiancheng</a:t>
            </a:r>
            <a:r>
              <a:rPr dirty="0" spc="30"/>
              <a:t> </a:t>
            </a:r>
            <a:r>
              <a:rPr dirty="0"/>
              <a:t>Xia,</a:t>
            </a:r>
            <a:r>
              <a:rPr dirty="0" spc="30"/>
              <a:t> </a:t>
            </a:r>
            <a:r>
              <a:rPr dirty="0" spc="-25"/>
              <a:t>Guangde</a:t>
            </a:r>
            <a:r>
              <a:rPr dirty="0" spc="30"/>
              <a:t> </a:t>
            </a:r>
            <a:r>
              <a:rPr dirty="0"/>
              <a:t>Shi</a:t>
            </a:r>
            <a:r>
              <a:rPr dirty="0" spc="85"/>
              <a:t> </a:t>
            </a:r>
            <a:r>
              <a:rPr dirty="0" spc="-10"/>
              <a:t>(COMP624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390203" y="3135783"/>
            <a:ext cx="9798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From</a:t>
            </a:r>
            <a:r>
              <a:rPr dirty="0" sz="600" spc="5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ImageNet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to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EuroSAT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422368" y="3135783"/>
            <a:ext cx="6076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Semester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1,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</a:rPr>
              <a:t>2026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Project</a:t>
            </a:r>
            <a:r>
              <a:rPr dirty="0" spc="-100"/>
              <a:t> </a:t>
            </a:r>
            <a:r>
              <a:rPr dirty="0" spc="-20"/>
              <a:t>Goal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74140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1090687"/>
            <a:ext cx="5176520" cy="9944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dirty="0" sz="1100">
                <a:latin typeface="Arial MT"/>
                <a:cs typeface="Arial MT"/>
              </a:rPr>
              <a:t>Main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task: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adapt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an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ImageNet-</a:t>
            </a:r>
            <a:r>
              <a:rPr dirty="0" sz="1100" spc="-40">
                <a:latin typeface="Arial MT"/>
                <a:cs typeface="Arial MT"/>
              </a:rPr>
              <a:t>pretrained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ResNet-</a:t>
            </a:r>
            <a:r>
              <a:rPr dirty="0" sz="1100" spc="-10">
                <a:latin typeface="Arial MT"/>
                <a:cs typeface="Arial MT"/>
              </a:rPr>
              <a:t>18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classify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EuroSAT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remote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sensing </a:t>
            </a:r>
            <a:r>
              <a:rPr dirty="0" sz="1100" spc="-10">
                <a:latin typeface="Arial MT"/>
                <a:cs typeface="Arial MT"/>
              </a:rPr>
              <a:t>scenes.</a:t>
            </a:r>
            <a:endParaRPr sz="1100">
              <a:latin typeface="Arial MT"/>
              <a:cs typeface="Arial MT"/>
            </a:endParaRPr>
          </a:p>
          <a:p>
            <a:pPr marL="12700" marR="746125">
              <a:lnSpc>
                <a:spcPct val="125299"/>
              </a:lnSpc>
            </a:pPr>
            <a:r>
              <a:rPr dirty="0" sz="1100">
                <a:latin typeface="Arial MT"/>
                <a:cs typeface="Arial MT"/>
              </a:rPr>
              <a:t>Main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question: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does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transfer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learning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help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more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training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scratch? </a:t>
            </a:r>
            <a:r>
              <a:rPr dirty="0" sz="1100" spc="-35">
                <a:latin typeface="Arial MT"/>
                <a:cs typeface="Arial MT"/>
              </a:rPr>
              <a:t>Supporting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question</a:t>
            </a:r>
            <a:r>
              <a:rPr dirty="0" sz="1100">
                <a:latin typeface="Arial MT"/>
                <a:cs typeface="Arial MT"/>
              </a:rPr>
              <a:t> 1:</a:t>
            </a:r>
            <a:r>
              <a:rPr dirty="0" sz="1100" spc="10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when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does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transfer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help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most?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-35">
                <a:latin typeface="Arial MT"/>
                <a:cs typeface="Arial MT"/>
              </a:rPr>
              <a:t>Supporting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question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2:</a:t>
            </a:r>
            <a:r>
              <a:rPr dirty="0" sz="1100" spc="8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how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much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ImageNet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capability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forgotten </a:t>
            </a:r>
            <a:r>
              <a:rPr dirty="0" sz="1100">
                <a:latin typeface="Arial MT"/>
                <a:cs typeface="Arial MT"/>
              </a:rPr>
              <a:t>after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adaptation?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56245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66277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76310"/>
            <a:ext cx="65265" cy="65265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pc="-75"/>
              <a:t>2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Ruiquan</a:t>
            </a:r>
            <a:r>
              <a:rPr dirty="0" spc="30"/>
              <a:t> </a:t>
            </a:r>
            <a:r>
              <a:rPr dirty="0"/>
              <a:t>Qiao,</a:t>
            </a:r>
            <a:r>
              <a:rPr dirty="0" spc="30"/>
              <a:t> </a:t>
            </a:r>
            <a:r>
              <a:rPr dirty="0" spc="-10"/>
              <a:t>Tiancheng</a:t>
            </a:r>
            <a:r>
              <a:rPr dirty="0" spc="30"/>
              <a:t> </a:t>
            </a:r>
            <a:r>
              <a:rPr dirty="0"/>
              <a:t>Xia,</a:t>
            </a:r>
            <a:r>
              <a:rPr dirty="0" spc="30"/>
              <a:t> </a:t>
            </a:r>
            <a:r>
              <a:rPr dirty="0" spc="-25"/>
              <a:t>Guangde</a:t>
            </a:r>
            <a:r>
              <a:rPr dirty="0" spc="30"/>
              <a:t> </a:t>
            </a:r>
            <a:r>
              <a:rPr dirty="0"/>
              <a:t>Shi</a:t>
            </a:r>
            <a:r>
              <a:rPr dirty="0" spc="85"/>
              <a:t> </a:t>
            </a:r>
            <a:r>
              <a:rPr dirty="0" spc="-10"/>
              <a:t>(COMP624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2390203" y="3135783"/>
            <a:ext cx="9798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From</a:t>
            </a:r>
            <a:r>
              <a:rPr dirty="0" sz="600" spc="5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ImageNet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to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EuroSAT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422368" y="3135783"/>
            <a:ext cx="6076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Semester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1,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</a:rPr>
              <a:t>2026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48082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Experimental</a:t>
            </a:r>
            <a:r>
              <a:rPr dirty="0" spc="-50"/>
              <a:t> </a:t>
            </a:r>
            <a:r>
              <a:rPr dirty="0" spc="-20"/>
              <a:t>Setup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39913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49946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59979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2124227" y="1525244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 h="0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134093" y="1525244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 h="0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707549" y="1525244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 h="0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670011"/>
            <a:ext cx="65265" cy="6526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859800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2049614"/>
            <a:ext cx="52590" cy="5259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0865" y="2201443"/>
            <a:ext cx="52590" cy="52590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377532" y="912696"/>
            <a:ext cx="4403725" cy="138239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40">
                <a:latin typeface="Arial MT"/>
                <a:cs typeface="Arial MT"/>
              </a:rPr>
              <a:t>Backbone: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ResNet-</a:t>
            </a:r>
            <a:r>
              <a:rPr dirty="0" sz="1100" spc="-10">
                <a:latin typeface="Arial MT"/>
                <a:cs typeface="Arial MT"/>
              </a:rPr>
              <a:t>18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 </a:t>
            </a:r>
            <a:r>
              <a:rPr dirty="0" sz="1100" spc="-10">
                <a:latin typeface="Arial MT"/>
                <a:cs typeface="Arial MT"/>
              </a:rPr>
              <a:t>official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ImageNet-</a:t>
            </a:r>
            <a:r>
              <a:rPr dirty="0" sz="1100">
                <a:latin typeface="Arial MT"/>
                <a:cs typeface="Arial MT"/>
              </a:rPr>
              <a:t>1K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pretrained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weights.</a:t>
            </a:r>
            <a:endParaRPr sz="1100">
              <a:latin typeface="Arial MT"/>
              <a:cs typeface="Arial MT"/>
            </a:endParaRPr>
          </a:p>
          <a:p>
            <a:pPr marL="38100" marR="30480">
              <a:lnSpc>
                <a:spcPct val="125299"/>
              </a:lnSpc>
            </a:pPr>
            <a:r>
              <a:rPr dirty="0" sz="1100">
                <a:latin typeface="Arial MT"/>
                <a:cs typeface="Arial MT"/>
              </a:rPr>
              <a:t>Main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dataset: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EuroSAT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18,900</a:t>
            </a:r>
            <a:r>
              <a:rPr dirty="0" sz="1100">
                <a:latin typeface="Arial MT"/>
                <a:cs typeface="Arial MT"/>
              </a:rPr>
              <a:t> train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240">
                <a:latin typeface="Arial MT"/>
                <a:cs typeface="Arial MT"/>
              </a:rPr>
              <a:t>/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4,050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val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240">
                <a:latin typeface="Arial MT"/>
                <a:cs typeface="Arial MT"/>
              </a:rPr>
              <a:t>/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4,050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test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images. </a:t>
            </a:r>
            <a:r>
              <a:rPr dirty="0" sz="1100" spc="-35">
                <a:latin typeface="Arial MT"/>
                <a:cs typeface="Arial MT"/>
              </a:rPr>
              <a:t>Strategies:</a:t>
            </a:r>
            <a:r>
              <a:rPr dirty="0" sz="1100" spc="190">
                <a:latin typeface="Arial MT"/>
                <a:cs typeface="Arial MT"/>
              </a:rPr>
              <a:t> </a:t>
            </a:r>
            <a:r>
              <a:rPr dirty="0" sz="1100" spc="100">
                <a:latin typeface="Calibri"/>
                <a:cs typeface="Calibri"/>
              </a:rPr>
              <a:t>scratch</a:t>
            </a:r>
            <a:r>
              <a:rPr dirty="0" sz="1100" spc="100">
                <a:latin typeface="Arial MT"/>
                <a:cs typeface="Arial MT"/>
              </a:rPr>
              <a:t>,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 spc="145">
                <a:latin typeface="Calibri"/>
                <a:cs typeface="Calibri"/>
              </a:rPr>
              <a:t>linear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probe</a:t>
            </a:r>
            <a:r>
              <a:rPr dirty="0" sz="1100">
                <a:latin typeface="Arial MT"/>
                <a:cs typeface="Arial MT"/>
              </a:rPr>
              <a:t>,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 spc="160">
                <a:latin typeface="Calibri"/>
                <a:cs typeface="Calibri"/>
              </a:rPr>
              <a:t>partial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145">
                <a:latin typeface="Calibri"/>
                <a:cs typeface="Calibri"/>
              </a:rPr>
              <a:t>ft</a:t>
            </a:r>
            <a:r>
              <a:rPr dirty="0" sz="1100" spc="145">
                <a:latin typeface="Arial MT"/>
                <a:cs typeface="Arial MT"/>
              </a:rPr>
              <a:t>,</a:t>
            </a:r>
            <a:r>
              <a:rPr dirty="0" sz="1100" spc="70">
                <a:latin typeface="Arial MT"/>
                <a:cs typeface="Arial MT"/>
              </a:rPr>
              <a:t> </a:t>
            </a:r>
            <a:r>
              <a:rPr dirty="0" sz="1100" spc="215">
                <a:latin typeface="Calibri"/>
                <a:cs typeface="Calibri"/>
              </a:rPr>
              <a:t>full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 spc="120">
                <a:latin typeface="Calibri"/>
                <a:cs typeface="Calibri"/>
              </a:rPr>
              <a:t>ft</a:t>
            </a:r>
            <a:r>
              <a:rPr dirty="0" sz="1100" spc="12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38100" marR="105410">
              <a:lnSpc>
                <a:spcPct val="113199"/>
              </a:lnSpc>
              <a:spcBef>
                <a:spcPts val="160"/>
              </a:spcBef>
            </a:pPr>
            <a:r>
              <a:rPr dirty="0" sz="1100" spc="-75">
                <a:latin typeface="Arial MT"/>
                <a:cs typeface="Arial MT"/>
              </a:rPr>
              <a:t>Shared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setting: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8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epochs,</a:t>
            </a:r>
            <a:r>
              <a:rPr dirty="0" sz="1100" spc="-10">
                <a:latin typeface="Arial MT"/>
                <a:cs typeface="Arial MT"/>
              </a:rPr>
              <a:t> batch </a:t>
            </a:r>
            <a:r>
              <a:rPr dirty="0" sz="1100" spc="-75">
                <a:latin typeface="Arial MT"/>
                <a:cs typeface="Arial MT"/>
              </a:rPr>
              <a:t>size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32,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AdamW,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learning</a:t>
            </a:r>
            <a:r>
              <a:rPr dirty="0" sz="1100" spc="-10">
                <a:latin typeface="Arial MT"/>
                <a:cs typeface="Arial MT"/>
              </a:rPr>
              <a:t> rate </a:t>
            </a:r>
            <a:r>
              <a:rPr dirty="0" sz="1100" spc="-75">
                <a:latin typeface="Arial MT"/>
                <a:cs typeface="Arial MT"/>
              </a:rPr>
              <a:t>3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60" i="1">
                <a:latin typeface="Verdana"/>
                <a:cs typeface="Verdana"/>
              </a:rPr>
              <a:t>×</a:t>
            </a:r>
            <a:r>
              <a:rPr dirty="0" sz="1100" spc="-145" i="1">
                <a:latin typeface="Verdana"/>
                <a:cs typeface="Verdana"/>
              </a:rPr>
              <a:t> </a:t>
            </a:r>
            <a:r>
              <a:rPr dirty="0" sz="1100" spc="-10">
                <a:latin typeface="Arial MT"/>
                <a:cs typeface="Arial MT"/>
              </a:rPr>
              <a:t>10</a:t>
            </a:r>
            <a:r>
              <a:rPr dirty="0" baseline="27777" sz="1200" spc="-15" i="1">
                <a:latin typeface="Arial"/>
                <a:cs typeface="Arial"/>
              </a:rPr>
              <a:t>−</a:t>
            </a:r>
            <a:r>
              <a:rPr dirty="0" baseline="27777" sz="1200" spc="-15">
                <a:latin typeface="Arial MT"/>
                <a:cs typeface="Arial MT"/>
              </a:rPr>
              <a:t>4</a:t>
            </a:r>
            <a:r>
              <a:rPr dirty="0" sz="1100" spc="-10">
                <a:latin typeface="Arial MT"/>
                <a:cs typeface="Arial MT"/>
              </a:rPr>
              <a:t>. Extra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analyses:</a:t>
            </a:r>
            <a:endParaRPr sz="1100">
              <a:latin typeface="Arial MT"/>
              <a:cs typeface="Arial MT"/>
            </a:endParaRPr>
          </a:p>
          <a:p>
            <a:pPr marL="314960">
              <a:lnSpc>
                <a:spcPts val="1200"/>
              </a:lnSpc>
              <a:spcBef>
                <a:spcPts val="175"/>
              </a:spcBef>
            </a:pPr>
            <a:r>
              <a:rPr dirty="0" sz="1000" spc="-90">
                <a:latin typeface="Arial MT"/>
                <a:cs typeface="Arial MT"/>
              </a:rPr>
              <a:t>Same-</a:t>
            </a:r>
            <a:r>
              <a:rPr dirty="0" sz="1000" spc="-50">
                <a:latin typeface="Arial MT"/>
                <a:cs typeface="Arial MT"/>
              </a:rPr>
              <a:t>size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cross-</a:t>
            </a:r>
            <a:r>
              <a:rPr dirty="0" sz="1000" spc="-20">
                <a:latin typeface="Arial MT"/>
                <a:cs typeface="Arial MT"/>
              </a:rPr>
              <a:t>domain:</a:t>
            </a:r>
            <a:r>
              <a:rPr dirty="0" sz="1000" spc="12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EuroSAT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vs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65">
                <a:latin typeface="Arial MT"/>
                <a:cs typeface="Arial MT"/>
              </a:rPr>
              <a:t>CIFAR-</a:t>
            </a:r>
            <a:r>
              <a:rPr dirty="0" sz="1000" spc="-25">
                <a:latin typeface="Arial MT"/>
                <a:cs typeface="Arial MT"/>
              </a:rPr>
              <a:t>10</a:t>
            </a:r>
            <a:endParaRPr sz="1000">
              <a:latin typeface="Arial MT"/>
              <a:cs typeface="Arial MT"/>
            </a:endParaRPr>
          </a:p>
          <a:p>
            <a:pPr marL="314960">
              <a:lnSpc>
                <a:spcPts val="1200"/>
              </a:lnSpc>
            </a:pPr>
            <a:r>
              <a:rPr dirty="0" sz="1000" spc="-65">
                <a:latin typeface="Arial MT"/>
                <a:cs typeface="Arial MT"/>
              </a:rPr>
              <a:t>Same-</a:t>
            </a:r>
            <a:r>
              <a:rPr dirty="0" sz="1000" spc="-45">
                <a:latin typeface="Arial MT"/>
                <a:cs typeface="Arial MT"/>
              </a:rPr>
              <a:t>domain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data-</a:t>
            </a:r>
            <a:r>
              <a:rPr dirty="0" sz="1000" spc="-10">
                <a:latin typeface="Arial MT"/>
                <a:cs typeface="Arial MT"/>
              </a:rPr>
              <a:t>size: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EuroSAT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10%,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30%,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60%,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100%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15" name="object 15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pc="-75"/>
              <a:t>2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Ruiquan</a:t>
            </a:r>
            <a:r>
              <a:rPr dirty="0" spc="30"/>
              <a:t> </a:t>
            </a:r>
            <a:r>
              <a:rPr dirty="0"/>
              <a:t>Qiao,</a:t>
            </a:r>
            <a:r>
              <a:rPr dirty="0" spc="30"/>
              <a:t> </a:t>
            </a:r>
            <a:r>
              <a:rPr dirty="0" spc="-10"/>
              <a:t>Tiancheng</a:t>
            </a:r>
            <a:r>
              <a:rPr dirty="0" spc="30"/>
              <a:t> </a:t>
            </a:r>
            <a:r>
              <a:rPr dirty="0"/>
              <a:t>Xia,</a:t>
            </a:r>
            <a:r>
              <a:rPr dirty="0" spc="30"/>
              <a:t> </a:t>
            </a:r>
            <a:r>
              <a:rPr dirty="0" spc="-25"/>
              <a:t>Guangde</a:t>
            </a:r>
            <a:r>
              <a:rPr dirty="0" spc="30"/>
              <a:t> </a:t>
            </a:r>
            <a:r>
              <a:rPr dirty="0"/>
              <a:t>Shi</a:t>
            </a:r>
            <a:r>
              <a:rPr dirty="0" spc="85"/>
              <a:t> </a:t>
            </a:r>
            <a:r>
              <a:rPr dirty="0" spc="-10"/>
              <a:t>(COMP624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2390203" y="3135783"/>
            <a:ext cx="9798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From</a:t>
            </a:r>
            <a:r>
              <a:rPr dirty="0" sz="600" spc="5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ImageNet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to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EuroSAT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422368" y="3135783"/>
            <a:ext cx="6076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Semester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1,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</a:rPr>
              <a:t>2026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Main</a:t>
            </a:r>
            <a:r>
              <a:rPr dirty="0" spc="-40"/>
              <a:t> </a:t>
            </a:r>
            <a:r>
              <a:rPr dirty="0" spc="-20"/>
              <a:t>Result</a:t>
            </a:r>
            <a:r>
              <a:rPr dirty="0" spc="-35"/>
              <a:t> </a:t>
            </a:r>
            <a:r>
              <a:rPr dirty="0"/>
              <a:t>on</a:t>
            </a:r>
            <a:r>
              <a:rPr dirty="0" spc="-35"/>
              <a:t> </a:t>
            </a:r>
            <a:r>
              <a:rPr dirty="0" spc="-10"/>
              <a:t>EuroSAT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28892" y="844219"/>
            <a:ext cx="1906270" cy="0"/>
          </a:xfrm>
          <a:custGeom>
            <a:avLst/>
            <a:gdLst/>
            <a:ahLst/>
            <a:cxnLst/>
            <a:rect l="l" t="t" r="r" b="b"/>
            <a:pathLst>
              <a:path w="1906270" h="0">
                <a:moveTo>
                  <a:pt x="0" y="0"/>
                </a:moveTo>
                <a:lnTo>
                  <a:pt x="1905825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92112" y="856848"/>
            <a:ext cx="4692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 MT"/>
                <a:cs typeface="Arial MT"/>
              </a:rPr>
              <a:t>Strategy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72747" y="856848"/>
            <a:ext cx="3352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>
                <a:latin typeface="Arial MT"/>
                <a:cs typeface="Arial MT"/>
              </a:rPr>
              <a:t>Top-</a:t>
            </a:r>
            <a:r>
              <a:rPr dirty="0" sz="1000" spc="-5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34006" y="856848"/>
            <a:ext cx="5372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>
                <a:latin typeface="Arial MT"/>
                <a:cs typeface="Arial MT"/>
              </a:rPr>
              <a:t>Macro-</a:t>
            </a:r>
            <a:r>
              <a:rPr dirty="0" sz="1000" spc="-25">
                <a:latin typeface="Arial MT"/>
                <a:cs typeface="Arial MT"/>
              </a:rPr>
              <a:t>F1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28892" y="1069708"/>
            <a:ext cx="1906270" cy="0"/>
          </a:xfrm>
          <a:custGeom>
            <a:avLst/>
            <a:gdLst/>
            <a:ahLst/>
            <a:cxnLst/>
            <a:rect l="l" t="t" r="r" b="b"/>
            <a:pathLst>
              <a:path w="1906270" h="0">
                <a:moveTo>
                  <a:pt x="0" y="0"/>
                </a:moveTo>
                <a:lnTo>
                  <a:pt x="1905825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65533" y="1080254"/>
            <a:ext cx="342900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1275">
              <a:lnSpc>
                <a:spcPts val="1200"/>
              </a:lnSpc>
              <a:spcBef>
                <a:spcPts val="95"/>
              </a:spcBef>
            </a:pPr>
            <a:r>
              <a:rPr dirty="0" sz="1000" spc="-30">
                <a:latin typeface="Arial MT"/>
                <a:cs typeface="Arial MT"/>
              </a:rPr>
              <a:t>93.21</a:t>
            </a:r>
            <a:endParaRPr sz="1000">
              <a:latin typeface="Arial MT"/>
              <a:cs typeface="Arial MT"/>
            </a:endParaRPr>
          </a:p>
          <a:p>
            <a:pPr marL="41275">
              <a:lnSpc>
                <a:spcPts val="1195"/>
              </a:lnSpc>
            </a:pPr>
            <a:r>
              <a:rPr dirty="0" sz="1000" spc="-30">
                <a:latin typeface="Arial MT"/>
                <a:cs typeface="Arial MT"/>
              </a:rPr>
              <a:t>88.54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195"/>
              </a:lnSpc>
            </a:pPr>
            <a:r>
              <a:rPr dirty="0" sz="1000" spc="-10" b="1">
                <a:latin typeface="Arial"/>
                <a:cs typeface="Arial"/>
              </a:rPr>
              <a:t>97.78</a:t>
            </a:r>
            <a:endParaRPr sz="1000">
              <a:latin typeface="Arial"/>
              <a:cs typeface="Arial"/>
            </a:endParaRPr>
          </a:p>
          <a:p>
            <a:pPr marL="41275">
              <a:lnSpc>
                <a:spcPts val="1200"/>
              </a:lnSpc>
            </a:pPr>
            <a:r>
              <a:rPr dirty="0" sz="1000" spc="-30">
                <a:latin typeface="Arial MT"/>
                <a:cs typeface="Arial MT"/>
              </a:rPr>
              <a:t>97.56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29131" y="1080254"/>
            <a:ext cx="342900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1275">
              <a:lnSpc>
                <a:spcPts val="1200"/>
              </a:lnSpc>
              <a:spcBef>
                <a:spcPts val="95"/>
              </a:spcBef>
            </a:pPr>
            <a:r>
              <a:rPr dirty="0" sz="1000" spc="-30">
                <a:latin typeface="Arial MT"/>
                <a:cs typeface="Arial MT"/>
              </a:rPr>
              <a:t>93.04</a:t>
            </a:r>
            <a:endParaRPr sz="1000">
              <a:latin typeface="Arial MT"/>
              <a:cs typeface="Arial MT"/>
            </a:endParaRPr>
          </a:p>
          <a:p>
            <a:pPr marL="41275">
              <a:lnSpc>
                <a:spcPts val="1195"/>
              </a:lnSpc>
            </a:pPr>
            <a:r>
              <a:rPr dirty="0" sz="1000" spc="-30">
                <a:latin typeface="Arial MT"/>
                <a:cs typeface="Arial MT"/>
              </a:rPr>
              <a:t>88.33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195"/>
              </a:lnSpc>
            </a:pPr>
            <a:r>
              <a:rPr dirty="0" sz="1000" spc="-10" b="1">
                <a:latin typeface="Arial"/>
                <a:cs typeface="Arial"/>
              </a:rPr>
              <a:t>97.71</a:t>
            </a:r>
            <a:endParaRPr sz="1000">
              <a:latin typeface="Arial"/>
              <a:cs typeface="Arial"/>
            </a:endParaRPr>
          </a:p>
          <a:p>
            <a:pPr marL="41275">
              <a:lnSpc>
                <a:spcPts val="1200"/>
              </a:lnSpc>
            </a:pPr>
            <a:r>
              <a:rPr dirty="0" sz="1000" spc="-30">
                <a:latin typeface="Arial MT"/>
                <a:cs typeface="Arial MT"/>
              </a:rPr>
              <a:t>97.50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494982" y="136878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45236" y="1520609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76885" y="1672437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92112" y="1080254"/>
            <a:ext cx="647065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 MT"/>
                <a:cs typeface="Arial MT"/>
              </a:rPr>
              <a:t>scratch </a:t>
            </a:r>
            <a:r>
              <a:rPr dirty="0" sz="1000" spc="-25">
                <a:latin typeface="Arial MT"/>
                <a:cs typeface="Arial MT"/>
              </a:rPr>
              <a:t>linear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probe </a:t>
            </a:r>
            <a:r>
              <a:rPr dirty="0" sz="1000">
                <a:latin typeface="Arial MT"/>
                <a:cs typeface="Arial MT"/>
              </a:rPr>
              <a:t>partial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30">
                <a:latin typeface="Arial MT"/>
                <a:cs typeface="Arial MT"/>
              </a:rPr>
              <a:t>ft </a:t>
            </a:r>
            <a:r>
              <a:rPr dirty="0" sz="1000">
                <a:latin typeface="Arial MT"/>
                <a:cs typeface="Arial MT"/>
              </a:rPr>
              <a:t>full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 spc="30">
                <a:latin typeface="Arial MT"/>
                <a:cs typeface="Arial MT"/>
              </a:rPr>
              <a:t>ft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28892" y="1750694"/>
            <a:ext cx="1906270" cy="0"/>
          </a:xfrm>
          <a:custGeom>
            <a:avLst/>
            <a:gdLst/>
            <a:ahLst/>
            <a:cxnLst/>
            <a:rect l="l" t="t" r="r" b="b"/>
            <a:pathLst>
              <a:path w="1906270" h="0">
                <a:moveTo>
                  <a:pt x="0" y="0"/>
                </a:moveTo>
                <a:lnTo>
                  <a:pt x="1905825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449" y="1940788"/>
            <a:ext cx="65265" cy="65265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449" y="2320366"/>
            <a:ext cx="65265" cy="65265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878941" y="2385631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 h="0">
                <a:moveTo>
                  <a:pt x="0" y="0"/>
                </a:moveTo>
                <a:lnTo>
                  <a:pt x="3985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393293" y="1869356"/>
            <a:ext cx="2210435" cy="708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latin typeface="Arial MT"/>
                <a:cs typeface="Arial MT"/>
              </a:rPr>
              <a:t>Transfer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helps</a:t>
            </a:r>
            <a:r>
              <a:rPr dirty="0" sz="1000" spc="-10">
                <a:latin typeface="Arial MT"/>
                <a:cs typeface="Arial MT"/>
              </a:rPr>
              <a:t> only </a:t>
            </a:r>
            <a:r>
              <a:rPr dirty="0" sz="1000" spc="-50">
                <a:latin typeface="Arial MT"/>
                <a:cs typeface="Arial MT"/>
              </a:rPr>
              <a:t>when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backbone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is </a:t>
            </a:r>
            <a:r>
              <a:rPr dirty="0" sz="1000" spc="-45">
                <a:latin typeface="Arial MT"/>
                <a:cs typeface="Arial MT"/>
              </a:rPr>
              <a:t>allowed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adapt.</a:t>
            </a:r>
            <a:endParaRPr sz="1000">
              <a:latin typeface="Arial MT"/>
              <a:cs typeface="Arial MT"/>
            </a:endParaRPr>
          </a:p>
          <a:p>
            <a:pPr marL="12700" marR="254000">
              <a:lnSpc>
                <a:spcPct val="100000"/>
              </a:lnSpc>
              <a:spcBef>
                <a:spcPts val="590"/>
              </a:spcBef>
            </a:pPr>
            <a:r>
              <a:rPr dirty="0" sz="1000" spc="145">
                <a:latin typeface="Calibri"/>
                <a:cs typeface="Calibri"/>
              </a:rPr>
              <a:t>partial</a:t>
            </a:r>
            <a:r>
              <a:rPr dirty="0" sz="1000" spc="114">
                <a:latin typeface="Calibri"/>
                <a:cs typeface="Calibri"/>
              </a:rPr>
              <a:t> </a:t>
            </a:r>
            <a:r>
              <a:rPr dirty="0" sz="1000" spc="200">
                <a:latin typeface="Calibri"/>
                <a:cs typeface="Calibri"/>
              </a:rPr>
              <a:t>ft</a:t>
            </a:r>
            <a:r>
              <a:rPr dirty="0" sz="1000" spc="75">
                <a:latin typeface="Calibri"/>
                <a:cs typeface="Calibri"/>
              </a:rPr>
              <a:t> </a:t>
            </a:r>
            <a:r>
              <a:rPr dirty="0" sz="1000" spc="-60">
                <a:latin typeface="Arial MT"/>
                <a:cs typeface="Arial MT"/>
              </a:rPr>
              <a:t>gives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best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EuroSAT </a:t>
            </a:r>
            <a:r>
              <a:rPr dirty="0" sz="1000" spc="-10">
                <a:latin typeface="Arial MT"/>
                <a:cs typeface="Arial MT"/>
              </a:rPr>
              <a:t>performance.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87728" y="880479"/>
            <a:ext cx="2601558" cy="1397050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1" name="object 21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pc="-75"/>
              <a:t>2</a:t>
            </a:r>
          </a:p>
        </p:txBody>
      </p:sp>
      <p:sp>
        <p:nvSpPr>
          <p:cNvPr id="25" name="object 2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Ruiquan</a:t>
            </a:r>
            <a:r>
              <a:rPr dirty="0" spc="30"/>
              <a:t> </a:t>
            </a:r>
            <a:r>
              <a:rPr dirty="0"/>
              <a:t>Qiao,</a:t>
            </a:r>
            <a:r>
              <a:rPr dirty="0" spc="30"/>
              <a:t> </a:t>
            </a:r>
            <a:r>
              <a:rPr dirty="0" spc="-10"/>
              <a:t>Tiancheng</a:t>
            </a:r>
            <a:r>
              <a:rPr dirty="0" spc="30"/>
              <a:t> </a:t>
            </a:r>
            <a:r>
              <a:rPr dirty="0"/>
              <a:t>Xia,</a:t>
            </a:r>
            <a:r>
              <a:rPr dirty="0" spc="30"/>
              <a:t> </a:t>
            </a:r>
            <a:r>
              <a:rPr dirty="0" spc="-25"/>
              <a:t>Guangde</a:t>
            </a:r>
            <a:r>
              <a:rPr dirty="0" spc="30"/>
              <a:t> </a:t>
            </a:r>
            <a:r>
              <a:rPr dirty="0"/>
              <a:t>Shi</a:t>
            </a:r>
            <a:r>
              <a:rPr dirty="0" spc="85"/>
              <a:t> </a:t>
            </a:r>
            <a:r>
              <a:rPr dirty="0" spc="-10"/>
              <a:t>(COMP624</a:t>
            </a:r>
          </a:p>
        </p:txBody>
      </p:sp>
      <p:sp>
        <p:nvSpPr>
          <p:cNvPr id="26" name="object 26" descr=""/>
          <p:cNvSpPr txBox="1"/>
          <p:nvPr/>
        </p:nvSpPr>
        <p:spPr>
          <a:xfrm>
            <a:off x="2390203" y="3135783"/>
            <a:ext cx="9798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From</a:t>
            </a:r>
            <a:r>
              <a:rPr dirty="0" sz="600" spc="5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ImageNet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to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EuroSAT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422368" y="3135783"/>
            <a:ext cx="6076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Semester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1,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</a:rPr>
              <a:t>2026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Forgetting</a:t>
            </a:r>
            <a:r>
              <a:rPr dirty="0" spc="-55"/>
              <a:t> </a:t>
            </a:r>
            <a:r>
              <a:rPr dirty="0"/>
              <a:t>on</a:t>
            </a:r>
            <a:r>
              <a:rPr dirty="0" spc="-50"/>
              <a:t> </a:t>
            </a:r>
            <a:r>
              <a:rPr dirty="0" spc="-55"/>
              <a:t>ImageNet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28930" y="904951"/>
            <a:ext cx="2447925" cy="0"/>
          </a:xfrm>
          <a:custGeom>
            <a:avLst/>
            <a:gdLst/>
            <a:ahLst/>
            <a:cxnLst/>
            <a:rect l="l" t="t" r="r" b="b"/>
            <a:pathLst>
              <a:path w="2447925" h="0">
                <a:moveTo>
                  <a:pt x="0" y="0"/>
                </a:moveTo>
                <a:lnTo>
                  <a:pt x="2447785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92138" y="917580"/>
            <a:ext cx="4692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 MT"/>
                <a:cs typeface="Arial MT"/>
              </a:rPr>
              <a:t>Strategy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65307" y="917580"/>
            <a:ext cx="5664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 MT"/>
                <a:cs typeface="Arial MT"/>
              </a:rPr>
              <a:t>Forgetting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58082" y="917580"/>
            <a:ext cx="85534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latin typeface="Arial MT"/>
                <a:cs typeface="Arial MT"/>
              </a:rPr>
              <a:t>EuroSAT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Top-</a:t>
            </a:r>
            <a:r>
              <a:rPr dirty="0" sz="1000" spc="-5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28930" y="1130439"/>
            <a:ext cx="2447925" cy="0"/>
          </a:xfrm>
          <a:custGeom>
            <a:avLst/>
            <a:gdLst/>
            <a:ahLst/>
            <a:cxnLst/>
            <a:rect l="l" t="t" r="r" b="b"/>
            <a:pathLst>
              <a:path w="2447925" h="0">
                <a:moveTo>
                  <a:pt x="0" y="0"/>
                </a:moveTo>
                <a:lnTo>
                  <a:pt x="2447785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95007" y="127768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189687" y="1140985"/>
            <a:ext cx="342900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1275">
              <a:lnSpc>
                <a:spcPts val="1200"/>
              </a:lnSpc>
              <a:spcBef>
                <a:spcPts val="95"/>
              </a:spcBef>
            </a:pPr>
            <a:r>
              <a:rPr dirty="0" sz="1000" spc="-30">
                <a:latin typeface="Arial MT"/>
                <a:cs typeface="Arial MT"/>
              </a:rPr>
              <a:t>37.73</a:t>
            </a:r>
            <a:endParaRPr sz="1000">
              <a:latin typeface="Arial MT"/>
              <a:cs typeface="Arial MT"/>
            </a:endParaRPr>
          </a:p>
          <a:p>
            <a:pPr marL="41275">
              <a:lnSpc>
                <a:spcPts val="1195"/>
              </a:lnSpc>
            </a:pPr>
            <a:r>
              <a:rPr dirty="0" sz="1000" spc="-30">
                <a:latin typeface="Arial MT"/>
                <a:cs typeface="Arial MT"/>
              </a:rPr>
              <a:t>69.26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200"/>
              </a:lnSpc>
            </a:pPr>
            <a:r>
              <a:rPr dirty="0" sz="1000" spc="-10" b="1">
                <a:latin typeface="Arial"/>
                <a:cs typeface="Arial"/>
              </a:rPr>
              <a:t>69.64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170962" y="1140985"/>
            <a:ext cx="342900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1275">
              <a:lnSpc>
                <a:spcPts val="1200"/>
              </a:lnSpc>
              <a:spcBef>
                <a:spcPts val="95"/>
              </a:spcBef>
            </a:pPr>
            <a:r>
              <a:rPr dirty="0" sz="1000" spc="-30">
                <a:latin typeface="Arial MT"/>
                <a:cs typeface="Arial MT"/>
              </a:rPr>
              <a:t>88.54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195"/>
              </a:lnSpc>
            </a:pPr>
            <a:r>
              <a:rPr dirty="0" sz="1000" spc="-10" b="1">
                <a:latin typeface="Arial"/>
                <a:cs typeface="Arial"/>
              </a:rPr>
              <a:t>97.78</a:t>
            </a:r>
            <a:endParaRPr sz="1000">
              <a:latin typeface="Arial"/>
              <a:cs typeface="Arial"/>
            </a:endParaRPr>
          </a:p>
          <a:p>
            <a:pPr marL="41275">
              <a:lnSpc>
                <a:spcPts val="1200"/>
              </a:lnSpc>
            </a:pPr>
            <a:r>
              <a:rPr dirty="0" sz="1000" spc="-30">
                <a:latin typeface="Arial MT"/>
                <a:cs typeface="Arial MT"/>
              </a:rPr>
              <a:t>97.56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45261" y="142951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76910" y="158134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92138" y="1140985"/>
            <a:ext cx="647065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Arial MT"/>
                <a:cs typeface="Arial MT"/>
              </a:rPr>
              <a:t>linear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probe </a:t>
            </a:r>
            <a:r>
              <a:rPr dirty="0" sz="1000">
                <a:latin typeface="Arial MT"/>
                <a:cs typeface="Arial MT"/>
              </a:rPr>
              <a:t>partial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30">
                <a:latin typeface="Arial MT"/>
                <a:cs typeface="Arial MT"/>
              </a:rPr>
              <a:t>ft </a:t>
            </a:r>
            <a:r>
              <a:rPr dirty="0" sz="1000">
                <a:latin typeface="Arial MT"/>
                <a:cs typeface="Arial MT"/>
              </a:rPr>
              <a:t>full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 spc="30">
                <a:latin typeface="Arial MT"/>
                <a:cs typeface="Arial MT"/>
              </a:rPr>
              <a:t>ft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28930" y="1659597"/>
            <a:ext cx="2447925" cy="0"/>
          </a:xfrm>
          <a:custGeom>
            <a:avLst/>
            <a:gdLst/>
            <a:ahLst/>
            <a:cxnLst/>
            <a:rect l="l" t="t" r="r" b="b"/>
            <a:pathLst>
              <a:path w="2447925" h="0">
                <a:moveTo>
                  <a:pt x="0" y="0"/>
                </a:moveTo>
                <a:lnTo>
                  <a:pt x="2447785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475" y="1849691"/>
            <a:ext cx="65265" cy="65265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393318" y="1778259"/>
            <a:ext cx="2310130" cy="708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68275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latin typeface="Arial MT"/>
                <a:cs typeface="Arial MT"/>
              </a:rPr>
              <a:t>Linear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probing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preserves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more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ImageNet </a:t>
            </a:r>
            <a:r>
              <a:rPr dirty="0" sz="1000" spc="-10">
                <a:latin typeface="Arial MT"/>
                <a:cs typeface="Arial MT"/>
              </a:rPr>
              <a:t>ability.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90"/>
              </a:spcBef>
            </a:pPr>
            <a:r>
              <a:rPr dirty="0" sz="1000" spc="-30">
                <a:latin typeface="Arial MT"/>
                <a:cs typeface="Arial MT"/>
              </a:rPr>
              <a:t>Stronger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EuroSAT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adaptation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90">
                <a:latin typeface="Arial MT"/>
                <a:cs typeface="Arial MT"/>
              </a:rPr>
              <a:t>causes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much </a:t>
            </a:r>
            <a:r>
              <a:rPr dirty="0" sz="1000" spc="-30">
                <a:latin typeface="Arial MT"/>
                <a:cs typeface="Arial MT"/>
              </a:rPr>
              <a:t>larger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forgetting.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475" y="2229268"/>
            <a:ext cx="65265" cy="65265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1709" y="940315"/>
            <a:ext cx="2548484" cy="1368549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20" name="object 20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pc="-75"/>
              <a:t>2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Ruiquan</a:t>
            </a:r>
            <a:r>
              <a:rPr dirty="0" spc="30"/>
              <a:t> </a:t>
            </a:r>
            <a:r>
              <a:rPr dirty="0"/>
              <a:t>Qiao,</a:t>
            </a:r>
            <a:r>
              <a:rPr dirty="0" spc="30"/>
              <a:t> </a:t>
            </a:r>
            <a:r>
              <a:rPr dirty="0" spc="-10"/>
              <a:t>Tiancheng</a:t>
            </a:r>
            <a:r>
              <a:rPr dirty="0" spc="30"/>
              <a:t> </a:t>
            </a:r>
            <a:r>
              <a:rPr dirty="0"/>
              <a:t>Xia,</a:t>
            </a:r>
            <a:r>
              <a:rPr dirty="0" spc="30"/>
              <a:t> </a:t>
            </a:r>
            <a:r>
              <a:rPr dirty="0" spc="-25"/>
              <a:t>Guangde</a:t>
            </a:r>
            <a:r>
              <a:rPr dirty="0" spc="30"/>
              <a:t> </a:t>
            </a:r>
            <a:r>
              <a:rPr dirty="0"/>
              <a:t>Shi</a:t>
            </a:r>
            <a:r>
              <a:rPr dirty="0" spc="85"/>
              <a:t> </a:t>
            </a:r>
            <a:r>
              <a:rPr dirty="0" spc="-10"/>
              <a:t>(COMP624</a:t>
            </a:r>
          </a:p>
        </p:txBody>
      </p:sp>
      <p:sp>
        <p:nvSpPr>
          <p:cNvPr id="25" name="object 25" descr=""/>
          <p:cNvSpPr txBox="1"/>
          <p:nvPr/>
        </p:nvSpPr>
        <p:spPr>
          <a:xfrm>
            <a:off x="2390203" y="3135783"/>
            <a:ext cx="9798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From</a:t>
            </a:r>
            <a:r>
              <a:rPr dirty="0" sz="600" spc="5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ImageNet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to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EuroSAT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422368" y="3135783"/>
            <a:ext cx="6076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Semester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1,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</a:rPr>
              <a:t>2026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When</a:t>
            </a:r>
            <a:r>
              <a:rPr dirty="0" spc="-55"/>
              <a:t> </a:t>
            </a:r>
            <a:r>
              <a:rPr dirty="0" spc="-40"/>
              <a:t>Transfer</a:t>
            </a:r>
            <a:r>
              <a:rPr dirty="0" spc="-55"/>
              <a:t> </a:t>
            </a:r>
            <a:r>
              <a:rPr dirty="0" spc="-30"/>
              <a:t>Helps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58150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2932" y="1130932"/>
            <a:ext cx="5010785" cy="828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dirty="0" sz="1100" spc="-65">
                <a:latin typeface="Arial MT"/>
                <a:cs typeface="Arial MT"/>
              </a:rPr>
              <a:t>Cross-</a:t>
            </a:r>
            <a:r>
              <a:rPr dirty="0" sz="1100" spc="-55">
                <a:latin typeface="Arial MT"/>
                <a:cs typeface="Arial MT"/>
              </a:rPr>
              <a:t>domain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comparison:</a:t>
            </a:r>
            <a:r>
              <a:rPr dirty="0" sz="1100" spc="7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CIFAR-</a:t>
            </a:r>
            <a:r>
              <a:rPr dirty="0" sz="1100">
                <a:latin typeface="Arial MT"/>
                <a:cs typeface="Arial MT"/>
              </a:rPr>
              <a:t>10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receives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larger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transfer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gain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EuroSAT. </a:t>
            </a:r>
            <a:r>
              <a:rPr dirty="0" sz="1100" spc="-60">
                <a:latin typeface="Arial MT"/>
                <a:cs typeface="Arial MT"/>
              </a:rPr>
              <a:t>Data-</a:t>
            </a:r>
            <a:r>
              <a:rPr dirty="0" sz="1100" spc="-25">
                <a:latin typeface="Arial MT"/>
                <a:cs typeface="Arial MT"/>
              </a:rPr>
              <a:t>size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comparison: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transfer</a:t>
            </a:r>
            <a:r>
              <a:rPr dirty="0" sz="1100" spc="-10">
                <a:latin typeface="Arial MT"/>
                <a:cs typeface="Arial MT"/>
              </a:rPr>
              <a:t> is </a:t>
            </a:r>
            <a:r>
              <a:rPr dirty="0" sz="1100" spc="-20">
                <a:latin typeface="Arial MT"/>
                <a:cs typeface="Arial MT"/>
              </a:rPr>
              <a:t>most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valuable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low-</a:t>
            </a:r>
            <a:r>
              <a:rPr dirty="0" sz="1100" spc="-10">
                <a:latin typeface="Arial MT"/>
                <a:cs typeface="Arial MT"/>
              </a:rPr>
              <a:t>data </a:t>
            </a:r>
            <a:r>
              <a:rPr dirty="0" sz="1100" spc="-45">
                <a:latin typeface="Arial MT"/>
                <a:cs typeface="Arial MT"/>
              </a:rPr>
              <a:t>EuroSAT</a:t>
            </a:r>
            <a:r>
              <a:rPr dirty="0" sz="1100" spc="-10">
                <a:latin typeface="Arial MT"/>
                <a:cs typeface="Arial MT"/>
              </a:rPr>
              <a:t> setting.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z="1100" spc="-35">
                <a:latin typeface="Arial MT"/>
                <a:cs typeface="Arial MT"/>
              </a:rPr>
              <a:t>Together,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these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experiments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show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 </a:t>
            </a:r>
            <a:r>
              <a:rPr dirty="0" sz="1100" spc="-25">
                <a:latin typeface="Arial MT"/>
                <a:cs typeface="Arial MT"/>
              </a:rPr>
              <a:t>transfer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benefit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depends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 </a:t>
            </a:r>
            <a:r>
              <a:rPr dirty="0" sz="1100" spc="-10">
                <a:latin typeface="Arial MT"/>
                <a:cs typeface="Arial MT"/>
              </a:rPr>
              <a:t>target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domain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and label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budget.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68183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78215"/>
            <a:ext cx="65265" cy="65265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8" name="object 8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pc="-75"/>
              <a:t>2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Ruiquan</a:t>
            </a:r>
            <a:r>
              <a:rPr dirty="0" spc="30"/>
              <a:t> </a:t>
            </a:r>
            <a:r>
              <a:rPr dirty="0"/>
              <a:t>Qiao,</a:t>
            </a:r>
            <a:r>
              <a:rPr dirty="0" spc="30"/>
              <a:t> </a:t>
            </a:r>
            <a:r>
              <a:rPr dirty="0" spc="-10"/>
              <a:t>Tiancheng</a:t>
            </a:r>
            <a:r>
              <a:rPr dirty="0" spc="30"/>
              <a:t> </a:t>
            </a:r>
            <a:r>
              <a:rPr dirty="0"/>
              <a:t>Xia,</a:t>
            </a:r>
            <a:r>
              <a:rPr dirty="0" spc="30"/>
              <a:t> </a:t>
            </a:r>
            <a:r>
              <a:rPr dirty="0" spc="-25"/>
              <a:t>Guangde</a:t>
            </a:r>
            <a:r>
              <a:rPr dirty="0" spc="30"/>
              <a:t> </a:t>
            </a:r>
            <a:r>
              <a:rPr dirty="0"/>
              <a:t>Shi</a:t>
            </a:r>
            <a:r>
              <a:rPr dirty="0" spc="85"/>
              <a:t> </a:t>
            </a:r>
            <a:r>
              <a:rPr dirty="0" spc="-10"/>
              <a:t>(COMP624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390203" y="3135783"/>
            <a:ext cx="9798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From</a:t>
            </a:r>
            <a:r>
              <a:rPr dirty="0" sz="600" spc="5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ImageNet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to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EuroSAT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422368" y="3135783"/>
            <a:ext cx="6076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Semester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1,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</a:rPr>
              <a:t>2026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Team</a:t>
            </a:r>
            <a:r>
              <a:rPr dirty="0" spc="-50"/>
              <a:t> </a:t>
            </a:r>
            <a:r>
              <a:rPr dirty="0" spc="-20"/>
              <a:t>Contributions</a:t>
            </a:r>
            <a:r>
              <a:rPr dirty="0" spc="-50"/>
              <a:t> </a:t>
            </a:r>
            <a:r>
              <a:rPr dirty="0" spc="-30"/>
              <a:t>and</a:t>
            </a:r>
            <a:r>
              <a:rPr dirty="0" spc="-45"/>
              <a:t> </a:t>
            </a:r>
            <a:r>
              <a:rPr dirty="0" spc="-70"/>
              <a:t>Takeaways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74140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pc="-50"/>
              <a:t>Ruiquan</a:t>
            </a:r>
            <a:r>
              <a:rPr dirty="0" spc="-20"/>
              <a:t> </a:t>
            </a:r>
            <a:r>
              <a:rPr dirty="0" spc="-10"/>
              <a:t>Qiao:</a:t>
            </a:r>
            <a:r>
              <a:rPr dirty="0" spc="75"/>
              <a:t> </a:t>
            </a:r>
            <a:r>
              <a:rPr dirty="0" spc="-25"/>
              <a:t>main</a:t>
            </a:r>
            <a:r>
              <a:rPr dirty="0" spc="-20"/>
              <a:t> </a:t>
            </a:r>
            <a:r>
              <a:rPr dirty="0" spc="-40"/>
              <a:t>experiment</a:t>
            </a:r>
            <a:r>
              <a:rPr dirty="0" spc="-15"/>
              <a:t> </a:t>
            </a:r>
            <a:r>
              <a:rPr dirty="0" spc="-45"/>
              <a:t>and</a:t>
            </a:r>
            <a:r>
              <a:rPr dirty="0" spc="-20"/>
              <a:t> </a:t>
            </a:r>
            <a:r>
              <a:rPr dirty="0" spc="-55"/>
              <a:t>corresponding</a:t>
            </a:r>
            <a:r>
              <a:rPr dirty="0" spc="-20"/>
              <a:t> </a:t>
            </a:r>
            <a:r>
              <a:rPr dirty="0" spc="-10"/>
              <a:t>forgetting</a:t>
            </a:r>
            <a:r>
              <a:rPr dirty="0" spc="-20"/>
              <a:t> </a:t>
            </a:r>
            <a:r>
              <a:rPr dirty="0" spc="-10"/>
              <a:t>analysis.</a:t>
            </a:r>
          </a:p>
          <a:p>
            <a:pPr marL="12700" marR="33020">
              <a:lnSpc>
                <a:spcPct val="125299"/>
              </a:lnSpc>
            </a:pPr>
            <a:r>
              <a:rPr dirty="0" spc="-45"/>
              <a:t>Tiancheng</a:t>
            </a:r>
            <a:r>
              <a:rPr dirty="0"/>
              <a:t> Xia:</a:t>
            </a:r>
            <a:r>
              <a:rPr dirty="0" spc="105"/>
              <a:t> </a:t>
            </a:r>
            <a:r>
              <a:rPr dirty="0" spc="-100"/>
              <a:t>same-</a:t>
            </a:r>
            <a:r>
              <a:rPr dirty="0" spc="-60"/>
              <a:t>size</a:t>
            </a:r>
            <a:r>
              <a:rPr dirty="0" spc="5"/>
              <a:t> </a:t>
            </a:r>
            <a:r>
              <a:rPr dirty="0" spc="-60"/>
              <a:t>cross-</a:t>
            </a:r>
            <a:r>
              <a:rPr dirty="0" spc="-55"/>
              <a:t>domain</a:t>
            </a:r>
            <a:r>
              <a:rPr dirty="0"/>
              <a:t> </a:t>
            </a:r>
            <a:r>
              <a:rPr dirty="0" spc="-60"/>
              <a:t>analysis</a:t>
            </a:r>
            <a:r>
              <a:rPr dirty="0" spc="5"/>
              <a:t> </a:t>
            </a:r>
            <a:r>
              <a:rPr dirty="0" spc="-45"/>
              <a:t>and</a:t>
            </a:r>
            <a:r>
              <a:rPr dirty="0" spc="5"/>
              <a:t> </a:t>
            </a:r>
            <a:r>
              <a:rPr dirty="0" spc="-55"/>
              <a:t>corresponding</a:t>
            </a:r>
            <a:r>
              <a:rPr dirty="0"/>
              <a:t> </a:t>
            </a:r>
            <a:r>
              <a:rPr dirty="0" spc="-10"/>
              <a:t>forgetting</a:t>
            </a:r>
            <a:r>
              <a:rPr dirty="0" spc="5"/>
              <a:t> </a:t>
            </a:r>
            <a:r>
              <a:rPr dirty="0" spc="-35"/>
              <a:t>analysis. </a:t>
            </a:r>
            <a:r>
              <a:rPr dirty="0" spc="-85"/>
              <a:t>Guangde</a:t>
            </a:r>
            <a:r>
              <a:rPr dirty="0" spc="10"/>
              <a:t> </a:t>
            </a:r>
            <a:r>
              <a:rPr dirty="0" spc="-10"/>
              <a:t>Shi:</a:t>
            </a:r>
            <a:r>
              <a:rPr dirty="0" spc="120"/>
              <a:t> </a:t>
            </a:r>
            <a:r>
              <a:rPr dirty="0" spc="-40"/>
              <a:t>data-</a:t>
            </a:r>
            <a:r>
              <a:rPr dirty="0" spc="-70"/>
              <a:t>size</a:t>
            </a:r>
            <a:r>
              <a:rPr dirty="0" spc="15"/>
              <a:t> </a:t>
            </a:r>
            <a:r>
              <a:rPr dirty="0" spc="-70"/>
              <a:t>analysis</a:t>
            </a:r>
            <a:r>
              <a:rPr dirty="0" spc="15"/>
              <a:t> </a:t>
            </a:r>
            <a:r>
              <a:rPr dirty="0" spc="-45"/>
              <a:t>and</a:t>
            </a:r>
            <a:r>
              <a:rPr dirty="0" spc="15"/>
              <a:t> </a:t>
            </a:r>
            <a:r>
              <a:rPr dirty="0" spc="-55"/>
              <a:t>corresponding</a:t>
            </a:r>
            <a:r>
              <a:rPr dirty="0" spc="10"/>
              <a:t> </a:t>
            </a:r>
            <a:r>
              <a:rPr dirty="0" spc="-10"/>
              <a:t>forgetting</a:t>
            </a:r>
            <a:r>
              <a:rPr dirty="0" spc="15"/>
              <a:t> </a:t>
            </a:r>
            <a:r>
              <a:rPr dirty="0" spc="-10"/>
              <a:t>analysis.</a:t>
            </a:r>
          </a:p>
          <a:p>
            <a:pPr marL="12700" marR="5080">
              <a:lnSpc>
                <a:spcPct val="102699"/>
              </a:lnSpc>
              <a:spcBef>
                <a:spcPts val="295"/>
              </a:spcBef>
            </a:pPr>
            <a:r>
              <a:rPr dirty="0" spc="-65"/>
              <a:t>Takeaway:</a:t>
            </a:r>
            <a:r>
              <a:rPr dirty="0" spc="75"/>
              <a:t> </a:t>
            </a:r>
            <a:r>
              <a:rPr dirty="0" spc="-45"/>
              <a:t>ImageNet</a:t>
            </a:r>
            <a:r>
              <a:rPr dirty="0"/>
              <a:t> </a:t>
            </a:r>
            <a:r>
              <a:rPr dirty="0" spc="-25"/>
              <a:t>transfer</a:t>
            </a:r>
            <a:r>
              <a:rPr dirty="0"/>
              <a:t> </a:t>
            </a:r>
            <a:r>
              <a:rPr dirty="0" spc="-65"/>
              <a:t>helps</a:t>
            </a:r>
            <a:r>
              <a:rPr dirty="0" spc="5"/>
              <a:t> </a:t>
            </a:r>
            <a:r>
              <a:rPr dirty="0" spc="-40"/>
              <a:t>EuroSAT,</a:t>
            </a:r>
            <a:r>
              <a:rPr dirty="0"/>
              <a:t> but </a:t>
            </a:r>
            <a:r>
              <a:rPr dirty="0" spc="-20"/>
              <a:t>strong</a:t>
            </a:r>
            <a:r>
              <a:rPr dirty="0" spc="5"/>
              <a:t> </a:t>
            </a:r>
            <a:r>
              <a:rPr dirty="0" spc="-30"/>
              <a:t>fine-</a:t>
            </a:r>
            <a:r>
              <a:rPr dirty="0" spc="-10"/>
              <a:t>tuning</a:t>
            </a:r>
            <a:r>
              <a:rPr dirty="0"/>
              <a:t> </a:t>
            </a:r>
            <a:r>
              <a:rPr dirty="0" spc="-55"/>
              <a:t>also</a:t>
            </a:r>
            <a:r>
              <a:rPr dirty="0"/>
              <a:t> </a:t>
            </a:r>
            <a:r>
              <a:rPr dirty="0" spc="-105"/>
              <a:t>causes</a:t>
            </a:r>
            <a:r>
              <a:rPr dirty="0" spc="30"/>
              <a:t> </a:t>
            </a:r>
            <a:r>
              <a:rPr dirty="0" spc="-60"/>
              <a:t>severe </a:t>
            </a:r>
            <a:r>
              <a:rPr dirty="0" spc="-10"/>
              <a:t>forgetting</a:t>
            </a:r>
            <a:r>
              <a:rPr dirty="0" spc="-50"/>
              <a:t> </a:t>
            </a:r>
            <a:r>
              <a:rPr dirty="0"/>
              <a:t>on</a:t>
            </a:r>
            <a:r>
              <a:rPr dirty="0" spc="-45"/>
              <a:t> </a:t>
            </a:r>
            <a:r>
              <a:rPr dirty="0" spc="-10"/>
              <a:t>ImageNet.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84172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94205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04238"/>
            <a:ext cx="65265" cy="65265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0" y="3130346"/>
            <a:ext cx="5760085" cy="109855"/>
            <a:chOff x="0" y="3130346"/>
            <a:chExt cx="576008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919973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39946" y="3130346"/>
              <a:ext cx="1920239" cy="109855"/>
            </a:xfrm>
            <a:custGeom>
              <a:avLst/>
              <a:gdLst/>
              <a:ahLst/>
              <a:cxnLst/>
              <a:rect l="l" t="t" r="r" b="b"/>
              <a:pathLst>
                <a:path w="1920239" h="109855">
                  <a:moveTo>
                    <a:pt x="1919973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919973" y="109651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pc="-75"/>
              <a:t>2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Ruiquan</a:t>
            </a:r>
            <a:r>
              <a:rPr dirty="0" spc="30"/>
              <a:t> </a:t>
            </a:r>
            <a:r>
              <a:rPr dirty="0"/>
              <a:t>Qiao,</a:t>
            </a:r>
            <a:r>
              <a:rPr dirty="0" spc="30"/>
              <a:t> </a:t>
            </a:r>
            <a:r>
              <a:rPr dirty="0" spc="-10"/>
              <a:t>Tiancheng</a:t>
            </a:r>
            <a:r>
              <a:rPr dirty="0" spc="30"/>
              <a:t> </a:t>
            </a:r>
            <a:r>
              <a:rPr dirty="0"/>
              <a:t>Xia,</a:t>
            </a:r>
            <a:r>
              <a:rPr dirty="0" spc="30"/>
              <a:t> </a:t>
            </a:r>
            <a:r>
              <a:rPr dirty="0" spc="-25"/>
              <a:t>Guangde</a:t>
            </a:r>
            <a:r>
              <a:rPr dirty="0" spc="30"/>
              <a:t> </a:t>
            </a:r>
            <a:r>
              <a:rPr dirty="0"/>
              <a:t>Shi</a:t>
            </a:r>
            <a:r>
              <a:rPr dirty="0" spc="85"/>
              <a:t> </a:t>
            </a:r>
            <a:r>
              <a:rPr dirty="0" spc="-10"/>
              <a:t>(COMP624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2390203" y="3135783"/>
            <a:ext cx="9798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From</a:t>
            </a:r>
            <a:r>
              <a:rPr dirty="0" sz="600" spc="5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ImageNet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to</a:t>
            </a:r>
            <a:r>
              <a:rPr dirty="0" sz="600" spc="5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EuroSAT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422368" y="3135783"/>
            <a:ext cx="6076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Semester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1,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</a:rPr>
              <a:t>2026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30"/>
              <a:t>1</a:t>
            </a:fld>
            <a:r>
              <a:rPr dirty="0" spc="-60"/>
              <a:t> </a:t>
            </a:r>
            <a:r>
              <a:rPr dirty="0" spc="150"/>
              <a:t>/</a:t>
            </a:r>
            <a:r>
              <a:rPr dirty="0" spc="-60"/>
              <a:t> </a:t>
            </a:r>
            <a:r>
              <a:rPr dirty="0" spc="-50"/>
              <a:t>8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Ruiquan Qiao, Tiancheng Xia, Guangde Shi</dc:creator>
  <dc:title>From ImageNet to EuroSAT - Transfer Learning, When Transfer Helps, and Catastrophic Forgetting</dc:title>
  <dcterms:created xsi:type="dcterms:W3CDTF">2026-06-01T06:21:34Z</dcterms:created>
  <dcterms:modified xsi:type="dcterms:W3CDTF">2026-06-01T06:21:34Z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2026-06-01T00:00:00Z</vt:filetime>
  </property>
  <property fmtid="{D5CDD505-2E9C-101B-9397-08002B2CF9AE}" pid="5" name="PTEX.Fullbanner">
    <vt:lpwstr>This is pdfTeX, Version 3.141592653-2.6-1.40.29 (TeX Live 2026) kpathsea version 6.4.2</vt:lpwstr>
  </property>
  <property fmtid="{D5CDD505-2E9C-101B-9397-08002B2CF9AE}" pid="6" name="Producer">
    <vt:lpwstr>pdfTeX-1.40.29</vt:lpwstr>
  </property>
</Properties>
</file>